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24"/>
  </p:notesMasterIdLst>
  <p:handoutMasterIdLst>
    <p:handoutMasterId r:id="rId25"/>
  </p:handoutMasterIdLst>
  <p:sldIdLst>
    <p:sldId id="256" r:id="rId5"/>
    <p:sldId id="278" r:id="rId6"/>
    <p:sldId id="279" r:id="rId7"/>
    <p:sldId id="280" r:id="rId8"/>
    <p:sldId id="282" r:id="rId9"/>
    <p:sldId id="281" r:id="rId10"/>
    <p:sldId id="283" r:id="rId11"/>
    <p:sldId id="284" r:id="rId12"/>
    <p:sldId id="285" r:id="rId13"/>
    <p:sldId id="286" r:id="rId14"/>
    <p:sldId id="287" r:id="rId15"/>
    <p:sldId id="288" r:id="rId16"/>
    <p:sldId id="289" r:id="rId17"/>
    <p:sldId id="290" r:id="rId18"/>
    <p:sldId id="292" r:id="rId19"/>
    <p:sldId id="291" r:id="rId20"/>
    <p:sldId id="293" r:id="rId21"/>
    <p:sldId id="294" r:id="rId22"/>
    <p:sldId id="295" r:id="rId23"/>
  </p:sldIdLst>
  <p:sldSz cx="12192000" cy="6858000"/>
  <p:notesSz cx="6858000" cy="9144000"/>
  <p:defaultTextStyle>
    <a:defPPr rtl="0">
      <a:defRPr lang="it-it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2232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35CEB73A-EAD8-4600-A937-149261040EA7}" type="datetime1">
              <a:rPr lang="it-IT" smtClean="0"/>
              <a:t>07/09/2026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FB53ADFC-ABB8-401A-BB24-33FDAFEDCEB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3324930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it-IT" noProof="0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9578EB8-0800-413D-B171-4C9FED7732A0}" type="datetime1">
              <a:rPr lang="it-IT" noProof="0" smtClean="0"/>
              <a:t>07/09/2026</a:t>
            </a:fld>
            <a:endParaRPr lang="it-IT" noProof="0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it-IT" noProof="0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it-IT" noProof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725628-3A68-42F4-BA86-981817953149}" type="slidenum">
              <a:rPr lang="it-IT" noProof="0" smtClean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64925861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4B725628-3A68-42F4-BA86-981817953149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592577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tangolo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11" name="Ovale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rtlCol="0" anchor="ctr">
            <a:normAutofit/>
          </a:bodyPr>
          <a:lstStyle>
            <a:lvl1pPr algn="r">
              <a:defRPr sz="5000" spc="200" baseline="0"/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rtlCol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pPr rtl="0"/>
            <a:r>
              <a:rPr lang="it-IT" noProof="0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l">
              <a:defRPr/>
            </a:lvl1pPr>
          </a:lstStyle>
          <a:p>
            <a:pPr rtl="0"/>
            <a:fld id="{B38DECDD-C56B-4B99-815C-4DC374BD0502}" type="datetime1">
              <a:rPr lang="it-IT" noProof="0" smtClean="0"/>
              <a:t>07/09/2026</a:t>
            </a:fld>
            <a:endParaRPr lang="it-IT" noProof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it-IT" noProof="0" smtClean="0"/>
              <a:t>‹N›</a:t>
            </a:fld>
            <a:endParaRPr lang="it-IT" noProof="0"/>
          </a:p>
        </p:txBody>
      </p:sp>
      <p:cxnSp>
        <p:nvCxnSpPr>
          <p:cNvPr id="8" name="Connettore diritto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C2CFC9B-8199-4464-9645-214B6EFF3046}" type="datetime1">
              <a:rPr lang="it-IT" noProof="0" smtClean="0"/>
              <a:t>07/09/2026</a:t>
            </a:fld>
            <a:endParaRPr lang="it-IT" noProof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it-IT" noProof="0" smtClean="0"/>
              <a:t>‹N›</a:t>
            </a:fld>
            <a:endParaRPr lang="it-IT" noProof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tangolo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e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rtlCol="0" anchor="ctr">
            <a:normAutofit/>
          </a:bodyPr>
          <a:lstStyle>
            <a:lvl1pPr algn="r">
              <a:defRPr sz="5000" b="0" spc="200" baseline="0"/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 hasCustomPrompt="1"/>
          </p:nvPr>
        </p:nvSpPr>
        <p:spPr>
          <a:xfrm>
            <a:off x="8610600" y="4960137"/>
            <a:ext cx="3200400" cy="1463040"/>
          </a:xfrm>
        </p:spPr>
        <p:txBody>
          <a:bodyPr lIns="91440" rIns="91440" rtlCol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it-IT" noProof="0"/>
              <a:t>Fare clic per modificare lo stile del titolo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68EC901-D7B4-418A-90B0-E5FCBA6FFEA7}" type="datetime1">
              <a:rPr lang="it-IT" noProof="0" smtClean="0"/>
              <a:t>07/09/2026</a:t>
            </a:fld>
            <a:endParaRPr lang="it-IT" noProof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it-IT" noProof="0" smtClean="0"/>
              <a:t>‹N›</a:t>
            </a:fld>
            <a:endParaRPr lang="it-IT" noProof="0"/>
          </a:p>
        </p:txBody>
      </p:sp>
      <p:cxnSp>
        <p:nvCxnSpPr>
          <p:cNvPr id="8" name="Connettore diritto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 rtlCol="0"/>
          <a:lstStyle/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 rtlCol="0"/>
          <a:lstStyle/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 rtlCol="0"/>
          <a:lstStyle/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1B961D9-E81B-44AF-B812-435DD72BA78F}" type="datetime1">
              <a:rPr lang="it-IT" noProof="0" smtClean="0"/>
              <a:t>07/09/2026</a:t>
            </a:fld>
            <a:endParaRPr lang="it-IT" noProof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it-IT" noProof="0" smtClean="0"/>
              <a:t>‹N›</a:t>
            </a:fld>
            <a:endParaRPr lang="it-IT" noProof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rtlCol="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 rtlCol="0"/>
          <a:lstStyle/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rtlCol="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it-IT" noProof="0"/>
              <a:t>Fare clic per modificare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 rtlCol="0"/>
          <a:lstStyle/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3FF653A-F944-4ACA-BE4F-5261464A4CE1}" type="datetime1">
              <a:rPr lang="it-IT" noProof="0" smtClean="0"/>
              <a:t>07/09/2026</a:t>
            </a:fld>
            <a:endParaRPr lang="it-IT" noProof="0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it-IT" noProof="0" smtClean="0"/>
              <a:t>‹N›</a:t>
            </a:fld>
            <a:endParaRPr lang="it-IT" noProof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0B835D5-4872-4F83-9549-4195BD19C9E7}" type="datetime1">
              <a:rPr lang="it-IT" noProof="0" smtClean="0"/>
              <a:t>07/09/2026</a:t>
            </a:fld>
            <a:endParaRPr lang="it-IT" noProof="0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it-IT" noProof="0" smtClean="0"/>
              <a:t>‹N›</a:t>
            </a:fld>
            <a:endParaRPr lang="it-IT" noProof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85AFA1D-B403-4233-93F5-9C17BC134037}" type="datetime1">
              <a:rPr lang="it-IT" noProof="0" smtClean="0"/>
              <a:t>07/09/2026</a:t>
            </a:fld>
            <a:endParaRPr lang="it-IT" noProof="0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it-IT" noProof="0" smtClean="0"/>
              <a:t>‹N›</a:t>
            </a:fld>
            <a:endParaRPr lang="it-IT" noProof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olo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 rtlCol="0"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 rtlCol="0"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 rtlCol="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0037F34-7F89-47FC-B829-DD18E8CE430E}" type="datetime1">
              <a:rPr lang="it-IT" noProof="0" smtClean="0"/>
              <a:t>07/09/2026</a:t>
            </a:fld>
            <a:endParaRPr lang="it-IT" noProof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it-IT" noProof="0" smtClean="0"/>
              <a:t>‹N›</a:t>
            </a:fld>
            <a:endParaRPr lang="it-IT" noProof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rtlCol="0" anchor="ctr">
            <a:normAutofit/>
          </a:bodyPr>
          <a:lstStyle>
            <a:lvl1pPr algn="r">
              <a:defRPr sz="5000" spc="200" baseline="0"/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immagine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it-IT" noProof="0"/>
              <a:t>Fare clic sull'icona per inserire un'immagine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 hasCustomPrompt="1"/>
          </p:nvPr>
        </p:nvSpPr>
        <p:spPr>
          <a:xfrm>
            <a:off x="8610600" y="4960138"/>
            <a:ext cx="3200400" cy="1463040"/>
          </a:xfrm>
        </p:spPr>
        <p:txBody>
          <a:bodyPr lIns="91440" rIns="91440" rtlCol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it-IT" noProof="0"/>
              <a:t>Fare clic per modificare lo stile del titolo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2945EFA-1B37-428A-B390-4F21411152A4}" type="datetime1">
              <a:rPr lang="it-IT" noProof="0" smtClean="0"/>
              <a:t>07/09/2026</a:t>
            </a:fld>
            <a:endParaRPr lang="it-IT" noProof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67E5644-1E61-4311-A31E-84CB9C7AA8A9}" type="slidenum">
              <a:rPr lang="it-IT" noProof="0" smtClean="0"/>
              <a:t>‹N›</a:t>
            </a:fld>
            <a:endParaRPr lang="it-IT" noProof="0"/>
          </a:p>
        </p:txBody>
      </p:sp>
      <p:cxnSp>
        <p:nvCxnSpPr>
          <p:cNvPr id="8" name="Connettore diritto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91270D5-CA2E-4CCE-B3E3-1ED4C617F5FD}" type="datetime1">
              <a:rPr lang="it-IT" noProof="0" smtClean="0"/>
              <a:t>07/09/2026</a:t>
            </a:fld>
            <a:endParaRPr lang="it-IT" noProof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it-IT" noProof="0" smtClean="0"/>
              <a:t>‹N›</a:t>
            </a:fld>
            <a:endParaRPr lang="it-IT" noProof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olo vertical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 rtlCol="0"/>
          <a:lstStyle/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 rtlCol="0"/>
          <a:lstStyle/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AD02021-081D-4BCD-8619-111A80C86AA4}" type="datetime1">
              <a:rPr lang="it-IT" noProof="0" smtClean="0"/>
              <a:t>07/09/2026</a:t>
            </a:fld>
            <a:endParaRPr lang="it-IT" noProof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it-IT" noProof="0" smtClean="0"/>
              <a:t>‹N›</a:t>
            </a:fld>
            <a:endParaRPr lang="it-IT" noProof="0"/>
          </a:p>
        </p:txBody>
      </p:sp>
      <p:cxnSp>
        <p:nvCxnSpPr>
          <p:cNvPr id="7" name="Connettore diritto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A6877D91-AE2A-4013-A171-54DDAEEA4374}" type="datetime1">
              <a:rPr lang="it-IT" noProof="0" smtClean="0"/>
              <a:t>07/09/2026</a:t>
            </a:fld>
            <a:endParaRPr lang="it-IT" noProof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endParaRPr lang="it-IT" noProof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it-IT" noProof="0" smtClean="0"/>
              <a:pPr rtl="0"/>
              <a:t>‹N›</a:t>
            </a:fld>
            <a:endParaRPr lang="it-IT" noProof="0"/>
          </a:p>
        </p:txBody>
      </p:sp>
      <p:cxnSp>
        <p:nvCxnSpPr>
          <p:cNvPr id="7" name="Connettore diritto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tangolo 18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4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230BD1B1-AA22-48F1-B3ED-579CD2846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2444" b="-1"/>
          <a:stretch/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21" name="Rettangolo 20">
            <a:extLst>
              <a:ext uri="{FF2B5EF4-FFF2-40B4-BE49-F238E27FC236}">
                <a16:creationId xmlns:a16="http://schemas.microsoft.com/office/drawing/2014/main" id="{EAA48FC5-3C83-4F1B-BC33-DF0B588F8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96786" y="3064931"/>
            <a:ext cx="8295215" cy="2488568"/>
          </a:xfrm>
          <a:prstGeom prst="rect">
            <a:avLst/>
          </a:prstGeom>
          <a:solidFill>
            <a:srgbClr val="000001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DE3D84FB-5D02-47D2-98FD-4F01A02E2A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09349" y="3429000"/>
            <a:ext cx="7501651" cy="1090938"/>
          </a:xfrm>
        </p:spPr>
        <p:txBody>
          <a:bodyPr rtlCol="0" anchor="b">
            <a:normAutofit/>
          </a:bodyPr>
          <a:lstStyle/>
          <a:p>
            <a:pPr algn="l"/>
            <a:r>
              <a:rPr lang="en-US" sz="3600" dirty="0">
                <a:solidFill>
                  <a:srgbClr val="FFFFFF"/>
                </a:solidFill>
              </a:rPr>
              <a:t>Learning to Kern: Comparison of Architectures for Optimal Letter Space</a:t>
            </a:r>
            <a:endParaRPr lang="it-IT" sz="3600" dirty="0">
              <a:solidFill>
                <a:srgbClr val="FFFFFF"/>
              </a:solidFill>
            </a:endParaRP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E9F6641D-ADF3-40BD-9BA3-E740E77C88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09349" y="4779313"/>
            <a:ext cx="7501650" cy="514816"/>
          </a:xfrm>
        </p:spPr>
        <p:txBody>
          <a:bodyPr rtlCol="0" anchor="t">
            <a:normAutofit/>
          </a:bodyPr>
          <a:lstStyle/>
          <a:p>
            <a:pPr rtl="0"/>
            <a:r>
              <a:rPr lang="it-IT" dirty="0">
                <a:solidFill>
                  <a:srgbClr val="FFFFFF"/>
                </a:solidFill>
              </a:rPr>
              <a:t>Angelantonio Fedele Murolo</a:t>
            </a:r>
          </a:p>
        </p:txBody>
      </p:sp>
      <p:cxnSp>
        <p:nvCxnSpPr>
          <p:cNvPr id="23" name="Connettore diritto 22">
            <a:extLst>
              <a:ext uri="{FF2B5EF4-FFF2-40B4-BE49-F238E27FC236}">
                <a16:creationId xmlns:a16="http://schemas.microsoft.com/office/drawing/2014/main" id="{62F01714-1A39-4194-BD47-8A9960C599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09349" y="4666480"/>
            <a:ext cx="6832499" cy="0"/>
          </a:xfrm>
          <a:prstGeom prst="line">
            <a:avLst/>
          </a:prstGeom>
          <a:ln w="22225">
            <a:solidFill>
              <a:srgbClr val="4AC4E3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6257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36339-793C-5ECF-63BB-EFDAD3641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 anchor="ctr">
            <a:normAutofit/>
          </a:bodyPr>
          <a:lstStyle/>
          <a:p>
            <a:r>
              <a:rPr lang="it-IT" dirty="0" err="1"/>
              <a:t>What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kerning</a:t>
            </a:r>
            <a:r>
              <a:rPr lang="it-IT" dirty="0"/>
              <a:t>?</a:t>
            </a:r>
          </a:p>
        </p:txBody>
      </p:sp>
      <p:pic>
        <p:nvPicPr>
          <p:cNvPr id="13" name="Segnaposto contenuto 12">
            <a:extLst>
              <a:ext uri="{FF2B5EF4-FFF2-40B4-BE49-F238E27FC236}">
                <a16:creationId xmlns:a16="http://schemas.microsoft.com/office/drawing/2014/main" id="{8D6ADA50-4703-47C7-8911-B9B4B896E3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15000" y="1440180"/>
            <a:ext cx="5678424" cy="3950208"/>
          </a:xfrm>
        </p:spPr>
      </p:pic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A5D4C085-14A5-B5EF-4B1D-46D57228AE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>
            <a:normAutofit/>
          </a:bodyPr>
          <a:lstStyle/>
          <a:p>
            <a:r>
              <a:rPr lang="en-US" sz="1800" dirty="0"/>
              <a:t>- Horizontal space between adjacent letters in a font</a:t>
            </a:r>
          </a:p>
          <a:p>
            <a:r>
              <a:rPr lang="en-US" sz="1800" dirty="0"/>
              <a:t>- Optical, not mechanical</a:t>
            </a:r>
          </a:p>
          <a:p>
            <a:r>
              <a:rPr lang="en-US" sz="1800" dirty="0"/>
              <a:t>- Decided by designers pair by pair - or by heuristics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6E642A14-0C78-4191-5860-C538704BD6BA}"/>
              </a:ext>
            </a:extLst>
          </p:cNvPr>
          <p:cNvSpPr txBox="1"/>
          <p:nvPr/>
        </p:nvSpPr>
        <p:spPr>
          <a:xfrm>
            <a:off x="1024128" y="5205722"/>
            <a:ext cx="46908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One font ⇒ 52 × 52 = 2,704 </a:t>
            </a:r>
            <a:r>
              <a:rPr lang="it-IT" dirty="0" err="1"/>
              <a:t>spacings</a:t>
            </a:r>
            <a:r>
              <a:rPr lang="it-IT" dirty="0"/>
              <a:t> to set</a:t>
            </a:r>
          </a:p>
        </p:txBody>
      </p:sp>
    </p:spTree>
    <p:extLst>
      <p:ext uri="{BB962C8B-B14F-4D97-AF65-F5344CB8AC3E}">
        <p14:creationId xmlns:p14="http://schemas.microsoft.com/office/powerpoint/2010/main" val="30372703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B15E648-FD94-F812-310D-5D375E48F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 anchor="ctr">
            <a:normAutofit/>
          </a:bodyPr>
          <a:lstStyle/>
          <a:p>
            <a:r>
              <a:rPr lang="it-IT" dirty="0"/>
              <a:t>Two models</a:t>
            </a:r>
          </a:p>
        </p:txBody>
      </p:sp>
      <p:pic>
        <p:nvPicPr>
          <p:cNvPr id="12" name="Segnaposto contenuto 11">
            <a:extLst>
              <a:ext uri="{FF2B5EF4-FFF2-40B4-BE49-F238E27FC236}">
                <a16:creationId xmlns:a16="http://schemas.microsoft.com/office/drawing/2014/main" id="{4BA74CB4-BBF3-13D7-7037-6BEA25FC7C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75770" y="2286000"/>
            <a:ext cx="7216789" cy="4023360"/>
          </a:xfrm>
          <a:prstGeom prst="rect">
            <a:avLst/>
          </a:prstGeom>
          <a:noFill/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C35135E0-DB34-BDBE-E01D-8CA81B61B0CD}"/>
              </a:ext>
            </a:extLst>
          </p:cNvPr>
          <p:cNvSpPr txBox="1"/>
          <p:nvPr/>
        </p:nvSpPr>
        <p:spPr>
          <a:xfrm>
            <a:off x="649328" y="2285997"/>
            <a:ext cx="21963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 Two letters at a time</a:t>
            </a:r>
          </a:p>
          <a:p>
            <a:r>
              <a:rPr lang="it-IT" dirty="0"/>
              <a:t>- No global </a:t>
            </a:r>
            <a:r>
              <a:rPr lang="it-IT" dirty="0" err="1"/>
              <a:t>context</a:t>
            </a:r>
            <a:endParaRPr lang="it-IT" dirty="0"/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BC74FE67-B5CE-D3B6-F3BC-03C1A6373D7C}"/>
              </a:ext>
            </a:extLst>
          </p:cNvPr>
          <p:cNvSpPr txBox="1"/>
          <p:nvPr/>
        </p:nvSpPr>
        <p:spPr>
          <a:xfrm>
            <a:off x="8289788" y="2285998"/>
            <a:ext cx="32528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- All N</a:t>
            </a:r>
            <a:r>
              <a:rPr lang="it-IT" baseline="30000" dirty="0"/>
              <a:t>2</a:t>
            </a:r>
            <a:r>
              <a:rPr lang="it-IT" dirty="0"/>
              <a:t> </a:t>
            </a:r>
            <a:r>
              <a:rPr lang="it-IT" dirty="0" err="1"/>
              <a:t>spaces</a:t>
            </a:r>
            <a:r>
              <a:rPr lang="it-IT" dirty="0"/>
              <a:t> </a:t>
            </a:r>
            <a:r>
              <a:rPr lang="it-IT" dirty="0" err="1"/>
              <a:t>estimated</a:t>
            </a:r>
            <a:r>
              <a:rPr lang="it-IT" dirty="0"/>
              <a:t> </a:t>
            </a:r>
            <a:r>
              <a:rPr lang="it-IT" dirty="0" err="1"/>
              <a:t>jointly</a:t>
            </a:r>
            <a:endParaRPr lang="it-IT" dirty="0"/>
          </a:p>
          <a:p>
            <a:r>
              <a:rPr lang="en-US" dirty="0"/>
              <a:t>- Whole alphabet given at once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2086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E3F657B-30AD-D3AF-E892-5C84B30D3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 anchor="ctr">
            <a:normAutofit/>
          </a:bodyPr>
          <a:lstStyle/>
          <a:p>
            <a:r>
              <a:rPr lang="it-IT" dirty="0"/>
              <a:t>THE Pipeline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C5AD8F83-3D5C-DCBA-DB20-6EC13475D8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5255" y="2341226"/>
            <a:ext cx="11721489" cy="295968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94438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27E03A8-3ABD-D13E-360D-41D13292C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Formula &amp; dataset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07EF1D6-CCA4-4A16-1BD0-FD8FE59969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233" y="2084832"/>
            <a:ext cx="4065073" cy="3192936"/>
          </a:xfrm>
        </p:spPr>
        <p:txBody>
          <a:bodyPr/>
          <a:lstStyle/>
          <a:p>
            <a:r>
              <a:rPr lang="en-US" sz="1800" dirty="0"/>
              <a:t>- advance(L): width of the left glyph’s advance</a:t>
            </a:r>
          </a:p>
          <a:p>
            <a:r>
              <a:rPr lang="en-US" sz="1800" dirty="0"/>
              <a:t>- k(L, R) · s: the font’s kerning value</a:t>
            </a:r>
          </a:p>
          <a:p>
            <a:r>
              <a:rPr lang="en-US" sz="1800" dirty="0"/>
              <a:t>- c</a:t>
            </a:r>
            <a:r>
              <a:rPr lang="en-US" sz="1400" dirty="0"/>
              <a:t>x</a:t>
            </a:r>
            <a:r>
              <a:rPr lang="en-US" sz="1800" dirty="0"/>
              <a:t> (R) − c</a:t>
            </a:r>
            <a:r>
              <a:rPr lang="en-US" sz="1400" dirty="0"/>
              <a:t>x</a:t>
            </a:r>
            <a:r>
              <a:rPr lang="en-US" sz="1800" dirty="0"/>
              <a:t> (L): horizontal shift between the two glyph centers</a:t>
            </a:r>
            <a:endParaRPr lang="it-IT" sz="1800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5A76C483-2BBC-09AE-0FA6-68F4F293A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7105" y="1004207"/>
            <a:ext cx="5712148" cy="490659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4032C7D0-9428-23E9-FFF1-E0A22FF1C7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3339" y="1623393"/>
            <a:ext cx="7350356" cy="2408940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F77E6B4B-B1C7-BEE9-FF21-D812DD0BFD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949022"/>
            <a:ext cx="5927105" cy="2645619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9F4A3C57-CBCD-A59B-3DE4-C1666F3064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2236" y="4239160"/>
            <a:ext cx="6289764" cy="2226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566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F2639A2-7B69-1067-AB7E-36EEAFF1F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rasterization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584243B-4132-A440-E3A6-0DA306F997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sz="1800" dirty="0"/>
              <a:t>- Every font → 52 </a:t>
            </a:r>
            <a:r>
              <a:rPr lang="it-IT" sz="1800" dirty="0" err="1"/>
              <a:t>glyphs</a:t>
            </a:r>
            <a:r>
              <a:rPr lang="it-IT" sz="1800" dirty="0"/>
              <a:t>, 256 × 256 </a:t>
            </a:r>
            <a:r>
              <a:rPr lang="it-IT" sz="1800" dirty="0" err="1"/>
              <a:t>binary</a:t>
            </a:r>
            <a:r>
              <a:rPr lang="it-IT" sz="1800" dirty="0"/>
              <a:t> images</a:t>
            </a:r>
          </a:p>
          <a:p>
            <a:r>
              <a:rPr lang="it-IT" sz="1800" dirty="0"/>
              <a:t>- </a:t>
            </a:r>
            <a:r>
              <a:rPr lang="it-IT" sz="1800" dirty="0" err="1"/>
              <a:t>Shared</a:t>
            </a:r>
            <a:r>
              <a:rPr lang="it-IT" sz="1800" dirty="0"/>
              <a:t> baseline </a:t>
            </a:r>
            <a:r>
              <a:rPr lang="it-IT" sz="1800" dirty="0" err="1"/>
              <a:t>at</a:t>
            </a:r>
            <a:r>
              <a:rPr lang="it-IT" sz="1800" dirty="0"/>
              <a:t> y =160, one per-font scale</a:t>
            </a:r>
          </a:p>
          <a:p>
            <a:r>
              <a:rPr lang="it-IT" sz="1800" dirty="0"/>
              <a:t>- 7,263 </a:t>
            </a:r>
            <a:r>
              <a:rPr lang="it-IT" sz="1800" dirty="0" err="1"/>
              <a:t>valid</a:t>
            </a:r>
            <a:r>
              <a:rPr lang="it-IT" sz="1800" dirty="0"/>
              <a:t> fonts · 377,676 </a:t>
            </a:r>
            <a:r>
              <a:rPr lang="it-IT" sz="1800" dirty="0" err="1"/>
              <a:t>glyphs</a:t>
            </a:r>
            <a:endParaRPr lang="it-IT" sz="1800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F7AD56B6-A94F-5D9C-5233-BDD65C4E24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651" y="3842529"/>
            <a:ext cx="10208697" cy="2430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284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5B4DB9D-5707-D3F9-109B-3C2E74C49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Resnet18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1FE5570-185D-B9F6-8FC1-97BCABC536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5429033" cy="4023360"/>
          </a:xfrm>
        </p:spPr>
        <p:txBody>
          <a:bodyPr>
            <a:normAutofit/>
          </a:bodyPr>
          <a:lstStyle/>
          <a:p>
            <a:r>
              <a:rPr lang="en-US" sz="1800" dirty="0"/>
              <a:t>- Trained on 52-way glyph classiﬁcation (test acc 0.971)</a:t>
            </a:r>
          </a:p>
          <a:p>
            <a:r>
              <a:rPr lang="en-US" sz="1800" dirty="0"/>
              <a:t>- Single channel replicated to the 3 RGB channels, then normalized to [−1, 1]</a:t>
            </a:r>
          </a:p>
          <a:p>
            <a:r>
              <a:rPr lang="en-US" sz="1800" dirty="0"/>
              <a:t>- 512-d</a:t>
            </a:r>
            <a:endParaRPr lang="it-IT" sz="1800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424A9075-9234-616E-84CC-C9399DE140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6475" y="939779"/>
            <a:ext cx="5415370" cy="4638405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83DA1759-B8C0-AEEE-91BC-C1FC324154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646" y="4428835"/>
            <a:ext cx="5983515" cy="1962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8110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4DF77D75-C41C-2E4B-8D12-4F5136E59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 dirty="0"/>
              <a:t>Our models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308BE48F-A39A-4B2E-93E2-85071B37A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2620966"/>
            <a:ext cx="9720073" cy="335342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7196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ADB1F75-625A-4D15-CFF3-8FA8BB3F2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Pairwise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A9E1E6B-6B0B-F88F-0789-07E07DEBF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- Input: [</a:t>
            </a:r>
            <a:r>
              <a:rPr lang="en-US" sz="1800" dirty="0" err="1"/>
              <a:t>f</a:t>
            </a:r>
            <a:r>
              <a:rPr lang="en-US" sz="1800" baseline="-25000" dirty="0" err="1"/>
              <a:t>L</a:t>
            </a:r>
            <a:r>
              <a:rPr lang="en-US" sz="1800" dirty="0"/>
              <a:t>; </a:t>
            </a:r>
            <a:r>
              <a:rPr lang="en-US" sz="1800" dirty="0" err="1"/>
              <a:t>f</a:t>
            </a:r>
            <a:r>
              <a:rPr lang="en-US" sz="1800" baseline="-25000" dirty="0" err="1"/>
              <a:t>R</a:t>
            </a:r>
            <a:r>
              <a:rPr lang="en-US" sz="1800" dirty="0"/>
              <a:t> ; </a:t>
            </a:r>
            <a:r>
              <a:rPr lang="en-US" sz="1800" dirty="0" err="1"/>
              <a:t>oh</a:t>
            </a:r>
            <a:r>
              <a:rPr lang="en-US" sz="1800" baseline="-25000" dirty="0" err="1"/>
              <a:t>L</a:t>
            </a:r>
            <a:r>
              <a:rPr lang="en-US" sz="1800" dirty="0"/>
              <a:t>; </a:t>
            </a:r>
            <a:r>
              <a:rPr lang="en-US" sz="1800" dirty="0" err="1"/>
              <a:t>oh</a:t>
            </a:r>
            <a:r>
              <a:rPr lang="en-US" sz="1800" baseline="-25000" dirty="0" err="1"/>
              <a:t>R</a:t>
            </a:r>
            <a:r>
              <a:rPr lang="en-US" sz="1800" dirty="0"/>
              <a:t> ] ∈ R</a:t>
            </a:r>
            <a:r>
              <a:rPr lang="en-US" sz="1800" baseline="30000" dirty="0"/>
              <a:t>1128</a:t>
            </a:r>
            <a:r>
              <a:rPr lang="en-US" sz="1800" dirty="0"/>
              <a:t>(2 × 512 features + 2 × 52 one-hot)</a:t>
            </a:r>
          </a:p>
          <a:p>
            <a:r>
              <a:rPr lang="en-US" sz="1800" dirty="0"/>
              <a:t>- MLP 1128 → 256 → 256 → 1 (</a:t>
            </a:r>
            <a:r>
              <a:rPr lang="en-US" sz="1800" dirty="0" err="1"/>
              <a:t>ReLU</a:t>
            </a:r>
            <a:r>
              <a:rPr lang="en-US" sz="1800" dirty="0"/>
              <a:t>), L1 loss</a:t>
            </a:r>
          </a:p>
          <a:p>
            <a:r>
              <a:rPr lang="it-IT" sz="1800" dirty="0"/>
              <a:t>- 355k </a:t>
            </a:r>
            <a:r>
              <a:rPr lang="it-IT" sz="1800" dirty="0" err="1"/>
              <a:t>parameters</a:t>
            </a:r>
            <a:endParaRPr lang="it-IT" sz="1800" dirty="0"/>
          </a:p>
          <a:p>
            <a:endParaRPr lang="it-IT" sz="1800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F02EE5FB-D66B-81CE-BE0B-2310AF1F6F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824" y="3639198"/>
            <a:ext cx="10226351" cy="2871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0886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7A32D-121D-9ACA-E8FC-AB5CBE6EB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8DB9FD0-11A8-A19D-33BA-961AB7C5D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setwise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990345B-2D42-DE8D-D95F-2301F9B0B8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- One font ⇒ N</a:t>
            </a:r>
            <a:r>
              <a:rPr lang="en-US" sz="1800" baseline="30000" dirty="0"/>
              <a:t>2</a:t>
            </a:r>
            <a:r>
              <a:rPr lang="en-US" sz="1800" dirty="0"/>
              <a:t> = 2,704 tokens [f</a:t>
            </a:r>
            <a:r>
              <a:rPr lang="en-US" sz="1800" baseline="-25000" dirty="0"/>
              <a:t>i</a:t>
            </a:r>
            <a:r>
              <a:rPr lang="en-US" sz="1800" dirty="0"/>
              <a:t> ; f</a:t>
            </a:r>
            <a:r>
              <a:rPr lang="en-US" sz="1800" baseline="-25000" dirty="0"/>
              <a:t>j</a:t>
            </a:r>
            <a:r>
              <a:rPr lang="en-US" sz="1800" dirty="0"/>
              <a:t> ] (1024-d)</a:t>
            </a:r>
          </a:p>
          <a:p>
            <a:r>
              <a:rPr lang="en-US" sz="1800" dirty="0"/>
              <a:t>- Project to d=32, then 1-layerTransformer (2 heads)</a:t>
            </a:r>
          </a:p>
          <a:p>
            <a:r>
              <a:rPr lang="it-IT" sz="1800" dirty="0"/>
              <a:t>- 45,6k </a:t>
            </a:r>
            <a:r>
              <a:rPr lang="it-IT" sz="1800" dirty="0" err="1"/>
              <a:t>parameters</a:t>
            </a:r>
            <a:endParaRPr lang="it-IT" sz="1800" dirty="0"/>
          </a:p>
          <a:p>
            <a:endParaRPr lang="it-IT" sz="1800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6EC3B18A-7429-91B4-C820-4D8B991297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487" y="3647809"/>
            <a:ext cx="10203025" cy="2862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3487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5D744E5-C530-B34E-E317-B4CC71431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Set→pair</a:t>
            </a:r>
            <a:r>
              <a:rPr lang="it-IT" dirty="0"/>
              <a:t> fusion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95E9C03-32CA-3222-7804-B97D6AC686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- Adds a global context to the pairwise input</a:t>
            </a:r>
          </a:p>
          <a:p>
            <a:r>
              <a:rPr lang="en-US" sz="1800" dirty="0"/>
              <a:t>- Context = mean of the frozen SW hidden states (32-d)</a:t>
            </a:r>
          </a:p>
          <a:p>
            <a:r>
              <a:rPr lang="en-US" sz="1800" dirty="0"/>
              <a:t>- 1160-d input</a:t>
            </a:r>
          </a:p>
          <a:p>
            <a:r>
              <a:rPr lang="en-US" sz="1800" dirty="0"/>
              <a:t>- 363k parameters</a:t>
            </a:r>
            <a:endParaRPr lang="it-IT" sz="1800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56E09C7C-F300-7148-B49A-262683CAA9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3081" y="3319584"/>
            <a:ext cx="8101564" cy="3338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635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3CA40-97F1-B9F5-64AE-400EB3112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822A8E0-ED2D-3011-6155-A0B911123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Cross-</a:t>
            </a:r>
            <a:r>
              <a:rPr lang="it-IT" dirty="0" err="1"/>
              <a:t>attention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7E269D4-D3BD-E7B9-C3CA-8DD6A1942D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- Pairwise encoder → query (64-d)</a:t>
            </a:r>
          </a:p>
          <a:p>
            <a:r>
              <a:rPr lang="en-US" sz="1800" dirty="0"/>
              <a:t>- Query attends over the frozen SW hidden states (K, V)</a:t>
            </a:r>
          </a:p>
          <a:p>
            <a:r>
              <a:rPr lang="en-US" sz="1800" dirty="0"/>
              <a:t>- Retrieves a pair-speciﬁc context, then MLP head</a:t>
            </a:r>
          </a:p>
          <a:p>
            <a:r>
              <a:rPr lang="en-US" sz="1800" dirty="0"/>
              <a:t>- 122k parameters</a:t>
            </a:r>
            <a:endParaRPr lang="it-IT" sz="1800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DA1E786E-BA87-4FC4-3537-0A59A71A1C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0161" y="3573882"/>
            <a:ext cx="7597711" cy="313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2542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9EDDC-7AD4-42C7-7A37-E9682BB7D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50773AB-BAEA-2ADF-B965-BF8240025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ENSEMBLE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3030DD3-718D-7371-BD5D-69D17B19BF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- Average of PW and SW predictions</a:t>
            </a:r>
            <a:endParaRPr lang="it-IT" sz="1800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93BDAA45-DFEA-A3BF-22A7-ECBCAC7CA4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7371" y="2860524"/>
            <a:ext cx="5037257" cy="548688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84FF19BB-CE04-A1E9-0FC2-45DA2E9E54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506" y="3610380"/>
            <a:ext cx="10328988" cy="2900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4674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4D48F78-2AC3-8CC3-476E-B52502570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 anchor="ctr">
            <a:normAutofit/>
          </a:bodyPr>
          <a:lstStyle/>
          <a:p>
            <a:r>
              <a:rPr lang="it-IT" dirty="0" err="1"/>
              <a:t>Comparison</a:t>
            </a:r>
            <a:endParaRPr lang="it-IT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5935D458-5A92-5421-4761-28022120CD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0422" y="432125"/>
            <a:ext cx="3863453" cy="2587450"/>
          </a:xfrm>
          <a:prstGeom prst="rect">
            <a:avLst/>
          </a:prstGeom>
          <a:noFill/>
        </p:spPr>
      </p:pic>
      <p:pic>
        <p:nvPicPr>
          <p:cNvPr id="7" name="Segnaposto contenuto 6">
            <a:extLst>
              <a:ext uri="{FF2B5EF4-FFF2-40B4-BE49-F238E27FC236}">
                <a16:creationId xmlns:a16="http://schemas.microsoft.com/office/drawing/2014/main" id="{42575B0B-109F-6800-A22A-ABA6A7631C6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940062" y="3429000"/>
            <a:ext cx="5024175" cy="2996875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ADDA3FCE-3DF5-1184-C3C5-A28994F744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763" y="1934106"/>
            <a:ext cx="6588999" cy="457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559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7DC0478C-F966-45D0-391D-D1B3DA12DD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0649" y="36035"/>
            <a:ext cx="4369108" cy="4364480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3FDDAB68-B9D4-7B07-E1F8-0632CC3FE2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243" y="4210260"/>
            <a:ext cx="7910173" cy="2611705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635180D8-5C34-557B-2F34-BFF87EEC3C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630" y="36035"/>
            <a:ext cx="6641547" cy="4174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5737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016CB0C8-597A-B8AB-C3A1-C5D9C4BE36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41" y="679868"/>
            <a:ext cx="5971259" cy="5498261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45EF737A-8ABD-1C8E-9D33-E4CB6435D9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24274"/>
            <a:ext cx="6052457" cy="360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1903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A30BF10-24E7-801D-5D3F-531AA1C7D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explainability</a:t>
            </a:r>
            <a:endParaRPr lang="it-IT" dirty="0"/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575D3CBC-73A2-432D-AB90-DFEB619489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1375" y="3429000"/>
            <a:ext cx="8762836" cy="3122970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90C46320-D3E6-5588-2591-64D9898709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3350" y="585216"/>
            <a:ext cx="7295229" cy="2485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0217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A347E21-A242-FB11-50FB-905FA24FD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demo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F25F93BE-514B-822A-F575-9E5F14C384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9030" y="585216"/>
            <a:ext cx="6410848" cy="3401061"/>
          </a:xfrm>
          <a:prstGeom prst="rect">
            <a:avLst/>
          </a:prstGeom>
          <a:ln w="38100" cap="sq">
            <a:solidFill>
              <a:schemeClr val="accent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A94E3EF8-7647-12D3-F455-7FE3E509EF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72122" y="3318652"/>
            <a:ext cx="5958842" cy="3155047"/>
          </a:xfrm>
          <a:prstGeom prst="rect">
            <a:avLst/>
          </a:prstGeom>
          <a:ln w="38100" cap="sq">
            <a:solidFill>
              <a:schemeClr val="accent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508096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C0E162B-7E8E-F808-1F54-03D238584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5964" y="2679192"/>
            <a:ext cx="9720072" cy="1499616"/>
          </a:xfrm>
        </p:spPr>
        <p:txBody>
          <a:bodyPr/>
          <a:lstStyle/>
          <a:p>
            <a:pPr algn="ctr"/>
            <a:r>
              <a:rPr lang="it-IT" dirty="0"/>
              <a:t>FIN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41CBCB0D-A617-415E-C978-65595412B142}"/>
              </a:ext>
            </a:extLst>
          </p:cNvPr>
          <p:cNvSpPr txBox="1"/>
          <p:nvPr/>
        </p:nvSpPr>
        <p:spPr>
          <a:xfrm>
            <a:off x="8208099" y="6488668"/>
            <a:ext cx="4058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Angelantonio Fedele Murolo </a:t>
            </a:r>
            <a:r>
              <a:rPr lang="it-IT" dirty="0" err="1"/>
              <a:t>mat</a:t>
            </a:r>
            <a:r>
              <a:rPr lang="it-IT" dirty="0"/>
              <a:t>. 840167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E045282A-15E4-84BF-3E69-2F4F5EEEC201}"/>
              </a:ext>
            </a:extLst>
          </p:cNvPr>
          <p:cNvSpPr/>
          <p:nvPr/>
        </p:nvSpPr>
        <p:spPr>
          <a:xfrm>
            <a:off x="438539" y="541176"/>
            <a:ext cx="797425" cy="17354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63975971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e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6805591_TF22378848.potx" id="{FB84F41F-4448-4F11-BE81-DA351851639F}" vid="{0BF0C845-FE40-4202-9FFA-3A0C1052C571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F44C90D-2A62-4985-9618-3460247437B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61EAB5F-88FC-4FAE-AE3C-037A3C365EB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88A2F88-55C5-4ED1-9541-807C65424763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Modello integrale</Template>
  <TotalTime>108</TotalTime>
  <Words>351</Words>
  <Application>Microsoft Office PowerPoint</Application>
  <PresentationFormat>Widescreen</PresentationFormat>
  <Paragraphs>52</Paragraphs>
  <Slides>19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19</vt:i4>
      </vt:variant>
    </vt:vector>
  </HeadingPairs>
  <TitlesOfParts>
    <vt:vector size="24" baseType="lpstr">
      <vt:lpstr>Calibri</vt:lpstr>
      <vt:lpstr>Tw Cen MT</vt:lpstr>
      <vt:lpstr>Tw Cen MT Condensed</vt:lpstr>
      <vt:lpstr>Wingdings 3</vt:lpstr>
      <vt:lpstr>Integrale</vt:lpstr>
      <vt:lpstr>Learning to Kern: Comparison of Architectures for Optimal Letter Space</vt:lpstr>
      <vt:lpstr>What is kerning?</vt:lpstr>
      <vt:lpstr>Two models</vt:lpstr>
      <vt:lpstr>THE Pipeline</vt:lpstr>
      <vt:lpstr>Formula &amp; dataset</vt:lpstr>
      <vt:lpstr>rasterization</vt:lpstr>
      <vt:lpstr>Resnet18</vt:lpstr>
      <vt:lpstr>Our models</vt:lpstr>
      <vt:lpstr>Pairwise</vt:lpstr>
      <vt:lpstr>setwise</vt:lpstr>
      <vt:lpstr>Set→pair fusion</vt:lpstr>
      <vt:lpstr>Cross-attention</vt:lpstr>
      <vt:lpstr>ENSEMBLE</vt:lpstr>
      <vt:lpstr>Comparison</vt:lpstr>
      <vt:lpstr>Presentazione standard di PowerPoint</vt:lpstr>
      <vt:lpstr>Presentazione standard di PowerPoint</vt:lpstr>
      <vt:lpstr>explainability</vt:lpstr>
      <vt:lpstr>demo</vt:lpstr>
      <vt:lpstr>FIN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MUROLO ANGELANTONIO FEDELE</dc:creator>
  <cp:lastModifiedBy>MUROLO ANGELANTONIO FEDELE</cp:lastModifiedBy>
  <cp:revision>2</cp:revision>
  <dcterms:created xsi:type="dcterms:W3CDTF">2026-09-06T18:02:01Z</dcterms:created>
  <dcterms:modified xsi:type="dcterms:W3CDTF">2026-09-07T22:01:14Z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